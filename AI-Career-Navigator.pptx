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BM Plex Sans"/>
      <p:regular r:id="rId201314"/>
    </p:embeddedFont>
    <p:embeddedFont>
      <p:font typeface="IBM Plex Sans Bold"/>
      <p:regular r:id="rId201315"/>
    </p:embeddedFont>
    <p:embeddedFont>
      <p:font typeface="IBM Plex Sans Medium"/>
      <p:regular r:id="rId201316"/>
    </p:embeddedFont>
    <p:embeddedFont>
      <p:font typeface="Space Grotesk Semi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jpe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3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4-2.jpe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</p:spPr>
      </p:sp>
      <p:pic>
        <p:nvPicPr>
          <p:cNvPr id="5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</p:sp>
      <p:pic>
        <p:nvPicPr>
          <p:cNvPr id="5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jpe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89" y="537591"/>
            <a:ext cx="6476838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spc="132" kern="100" dirty="0">
                <a:solidFill>
                  <a:srgbClr val="4F8C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AI · EDUCATION · CAREER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31789" y="2550716"/>
            <a:ext cx="6045049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000" spc="-150" kern="100" dirty="0">
                <a:solidFill>
                  <a:srgbClr val="F5F8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AI Career</a:t>
            </a:r>
            <a:endParaRPr lang="en-US" sz="100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10000" spc="-150" kern="100" dirty="0">
                <a:solidFill>
                  <a:srgbClr val="F5F8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Navigator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431789" y="5179362"/>
            <a:ext cx="6045049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Intelligent AI-Powered Career Guidance and Skill Recommendation System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31789" y="5965031"/>
            <a:ext cx="604504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Presented by: [Your Name] · B.Tech Artificial Intelligence and Machine Learning — 2nd Year · [Your College Name]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3791"/>
            <a:ext cx="6235544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spc="132" kern="100" dirty="0">
                <a:solidFill>
                  <a:srgbClr val="4F8C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43987"/>
            <a:ext cx="5625959" cy="1013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200" spc="-63" kern="100" dirty="0">
                <a:solidFill>
                  <a:srgbClr val="F5F8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The Career </a:t>
            </a:r>
            <a:pPr algn="l" indent="0" marL="0">
              <a:lnSpc>
                <a:spcPct val="79000"/>
              </a:lnSpc>
              <a:buNone/>
            </a:pPr>
            <a:r>
              <a:rPr lang="en-US" sz="4200" spc="-63" kern="100" dirty="0">
                <a:solidFill>
                  <a:srgbClr val="4F8C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Confusion</a:t>
            </a:r>
            <a:pPr algn="l" indent="0" marL="0">
              <a:lnSpc>
                <a:spcPct val="79000"/>
              </a:lnSpc>
              <a:buNone/>
            </a:pPr>
            <a:r>
              <a:rPr lang="en-US" sz="4200" spc="-63" kern="100" dirty="0">
                <a:solidFill>
                  <a:srgbClr val="F5F8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 Challenge</a:t>
            </a:r>
            <a:endParaRPr lang="en-US" sz="4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101552"/>
            <a:ext cx="507987" cy="50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2750364"/>
            <a:ext cx="1672092" cy="410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1700" spc="-25" kern="100" dirty="0">
                <a:solidFill>
                  <a:srgbClr val="F5F8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Career opportunities</a:t>
            </a:r>
            <a:endParaRPr lang="en-US" sz="1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469" y="2101552"/>
            <a:ext cx="444489" cy="508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86469" y="2750364"/>
            <a:ext cx="1672092" cy="410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1700" spc="-25" kern="100" dirty="0">
                <a:solidFill>
                  <a:srgbClr val="F5F8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Learning resources</a:t>
            </a:r>
            <a:endParaRPr lang="en-US" sz="17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3353" y="2101552"/>
            <a:ext cx="507987" cy="5080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563353" y="2750364"/>
            <a:ext cx="1672191" cy="205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1700" spc="-25" kern="100" dirty="0">
                <a:solidFill>
                  <a:srgbClr val="F5F8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Career roadmap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609585" y="3324523"/>
            <a:ext cx="5625959" cy="2726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D8E4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Students often have limited awareness of career opportunities after graduation.</a:t>
            </a:r>
            <a:endParaRPr lang="en-US" sz="1600" dirty="0"/>
          </a:p>
          <a:p>
            <a:pPr algn="l" marL="325120" indent="-32512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D8E4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Job requirements, learning resources, and certifications are difficult to connect.</a:t>
            </a:r>
            <a:endParaRPr lang="en-US" sz="1600" dirty="0"/>
          </a:p>
          <a:p>
            <a:pPr algn="l" marL="325120" indent="-32512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D8E4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Academic qualifications do not automatically translate into a clear career roadmap.</a:t>
            </a:r>
            <a:endParaRPr lang="en-US" sz="1600" dirty="0"/>
          </a:p>
          <a:p>
            <a:pPr algn="l" marL="325120" indent="-32512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D8E4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Target users: Degree, B.Tech, MCA, and MBA students.</a:t>
            </a:r>
            <a:endParaRPr lang="en-US" sz="1600" dirty="0"/>
          </a:p>
          <a:p>
            <a:pPr algn="l" marL="325120" indent="-32512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D8E4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Core problem: students need personalized, accessible, practical guidance based on education, skills, and goals.</a:t>
            </a:r>
            <a:endParaRPr lang="en-US" sz="16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317" y="0"/>
            <a:ext cx="4889378" cy="68580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0" y="165100"/>
            <a:ext cx="8889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E4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438"/>
            <a:ext cx="6918846" cy="144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spc="108" kern="100" dirty="0">
                <a:solidFill>
                  <a:srgbClr val="4F8C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THE PLATFORM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09585" y="870586"/>
            <a:ext cx="6309262" cy="1109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600" spc="-69" kern="100" dirty="0">
                <a:solidFill>
                  <a:srgbClr val="F5F8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Introducing AI Career Navigator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09585" y="2055416"/>
            <a:ext cx="6309262" cy="752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spcAft>
                <a:spcPts val="950"/>
              </a:spcAft>
              <a:buNone/>
            </a:pPr>
            <a:r>
              <a:rPr lang="en-US" sz="1300" dirty="0">
                <a:solidFill>
                  <a:srgbClr val="D8E4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intelligent platform that analyzes educational background, skills, interests, and career goals to recommend relevant opportunities and personalized learning plans.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8E4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From career confusion to a clear, personalized action plan.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09585" y="2932112"/>
            <a:ext cx="3078383" cy="1208584"/>
          </a:xfrm>
          <a:prstGeom prst="roundRect">
            <a:avLst>
              <a:gd name="adj" fmla="val 5797"/>
            </a:avLst>
          </a:prstGeom>
          <a:solidFill>
            <a:srgbClr val="041F5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3160713"/>
            <a:ext cx="333565" cy="3335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8179" y="3595363"/>
            <a:ext cx="2621195" cy="168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1400" spc="-21" kern="100" dirty="0">
                <a:solidFill>
                  <a:srgbClr val="F5F8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AI career chatbot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840364" y="2932112"/>
            <a:ext cx="3078482" cy="1208584"/>
          </a:xfrm>
          <a:prstGeom prst="roundRect">
            <a:avLst>
              <a:gd name="adj" fmla="val 5797"/>
            </a:avLst>
          </a:prstGeom>
          <a:solidFill>
            <a:srgbClr val="041F5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958" y="3160713"/>
            <a:ext cx="333565" cy="33357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68958" y="3595363"/>
            <a:ext cx="2621294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1400" spc="-21" kern="100" dirty="0">
                <a:solidFill>
                  <a:srgbClr val="F5F8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Personalized career recommendations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09585" y="4292997"/>
            <a:ext cx="3078383" cy="1208782"/>
          </a:xfrm>
          <a:prstGeom prst="roundRect">
            <a:avLst>
              <a:gd name="adj" fmla="val 5796"/>
            </a:avLst>
          </a:prstGeom>
          <a:solidFill>
            <a:srgbClr val="041F5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79" y="4521597"/>
            <a:ext cx="333565" cy="33357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38179" y="4956247"/>
            <a:ext cx="2621195" cy="168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1400" spc="-21" kern="100" dirty="0">
                <a:solidFill>
                  <a:srgbClr val="F5F8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Skill-gap analysis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3840364" y="4292997"/>
            <a:ext cx="3078482" cy="1208782"/>
          </a:xfrm>
          <a:prstGeom prst="roundRect">
            <a:avLst>
              <a:gd name="adj" fmla="val 5796"/>
            </a:avLst>
          </a:prstGeom>
          <a:solidFill>
            <a:srgbClr val="041F50"/>
          </a:solidFill>
          <a:ln/>
        </p:spPr>
      </p:sp>
      <p:sp>
        <p:nvSpPr>
          <p:cNvPr id="15" name="Text 10"/>
          <p:cNvSpPr/>
          <p:nvPr/>
        </p:nvSpPr>
        <p:spPr>
          <a:xfrm>
            <a:off x="4068958" y="4541414"/>
            <a:ext cx="2621294" cy="168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1400" spc="-21" kern="100" dirty="0">
                <a:solidFill>
                  <a:srgbClr val="F5F8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Career roadmap generation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09585" y="5654080"/>
            <a:ext cx="6309262" cy="1208584"/>
          </a:xfrm>
          <a:prstGeom prst="roundRect">
            <a:avLst>
              <a:gd name="adj" fmla="val 5797"/>
            </a:avLst>
          </a:prstGeom>
          <a:solidFill>
            <a:srgbClr val="041F50"/>
          </a:solidFill>
          <a:ln/>
        </p:spPr>
      </p:sp>
      <p:sp>
        <p:nvSpPr>
          <p:cNvPr id="17" name="Text 12"/>
          <p:cNvSpPr/>
          <p:nvPr/>
        </p:nvSpPr>
        <p:spPr>
          <a:xfrm>
            <a:off x="838179" y="5902497"/>
            <a:ext cx="5852073" cy="168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1400" spc="-21" kern="100" dirty="0">
                <a:solidFill>
                  <a:srgbClr val="F5F8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Learning resources plus resume and portfolio guidance</a:t>
            </a:r>
            <a:endParaRPr lang="en-US" sz="14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3124" y="0"/>
            <a:ext cx="4358571" cy="68580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0" y="165100"/>
            <a:ext cx="8889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E4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696"/>
            <a:ext cx="2438339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8E4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PLATFORM · MANY PATHS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09585" y="1568212"/>
            <a:ext cx="2438339" cy="2171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3600" spc="-54" kern="100" dirty="0">
                <a:solidFill>
                  <a:srgbClr val="F5F8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Designed for Every Student’s Career Journey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3900333"/>
            <a:ext cx="2438339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8E4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Recommendations depend on qualifications, skills, interests, and role requirements.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509" y="0"/>
            <a:ext cx="4114697" cy="2467074"/>
          </a:xfrm>
          <a:prstGeom prst="rect">
            <a:avLst/>
          </a:prstGeom>
          <a:noFill/>
          <a:ln w="25399">
            <a:solidFill>
              <a:srgbClr val="19459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11502" y="177800"/>
            <a:ext cx="406390" cy="406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11502" y="800259"/>
            <a:ext cx="3606710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2100" spc="-31" kern="100" dirty="0">
                <a:solidFill>
                  <a:srgbClr val="F5F8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Degree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3911502" y="1173801"/>
            <a:ext cx="3606710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8E4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Software development, data analytics, business analysis, digital marketing, and pathways shaped by specialization and skills.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076998" y="0"/>
            <a:ext cx="4114697" cy="2467074"/>
          </a:xfrm>
          <a:prstGeom prst="rect">
            <a:avLst/>
          </a:prstGeom>
          <a:noFill/>
          <a:ln w="25399">
            <a:solidFill>
              <a:srgbClr val="194599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0992" y="177800"/>
            <a:ext cx="406390" cy="406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330992" y="800259"/>
            <a:ext cx="3606710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2100" spc="-31" kern="100" dirty="0">
                <a:solidFill>
                  <a:srgbClr val="F5F8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B.Tech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8330992" y="1173801"/>
            <a:ext cx="3606710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8E4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AI/ML engineering, software development, data engineering, and cloud computing.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3657509" y="2771874"/>
            <a:ext cx="4114697" cy="2186682"/>
          </a:xfrm>
          <a:prstGeom prst="rect">
            <a:avLst/>
          </a:prstGeom>
          <a:noFill/>
          <a:ln w="25399">
            <a:solidFill>
              <a:srgbClr val="194599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1502" y="2949674"/>
            <a:ext cx="406390" cy="4064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911502" y="3572133"/>
            <a:ext cx="3606710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2100" spc="-31" kern="100" dirty="0">
                <a:solidFill>
                  <a:srgbClr val="F5F8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MCA</a:t>
            </a:r>
            <a:endParaRPr lang="en-US" sz="2100" dirty="0"/>
          </a:p>
        </p:txBody>
      </p:sp>
      <p:sp>
        <p:nvSpPr>
          <p:cNvPr id="16" name="Text 11"/>
          <p:cNvSpPr/>
          <p:nvPr/>
        </p:nvSpPr>
        <p:spPr>
          <a:xfrm>
            <a:off x="3911502" y="3945676"/>
            <a:ext cx="3606710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8E4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Software engineering, AI/ML, data science, application development, and IT careers.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8076998" y="2771874"/>
            <a:ext cx="4114697" cy="2186682"/>
          </a:xfrm>
          <a:prstGeom prst="rect">
            <a:avLst/>
          </a:prstGeom>
          <a:noFill/>
          <a:ln w="25399">
            <a:solidFill>
              <a:srgbClr val="194599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0992" y="2949674"/>
            <a:ext cx="406390" cy="4064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30992" y="3572133"/>
            <a:ext cx="3606710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2100" spc="-31" kern="100" dirty="0">
                <a:solidFill>
                  <a:srgbClr val="F5F8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MBA</a:t>
            </a:r>
            <a:endParaRPr lang="en-US" sz="2100" dirty="0"/>
          </a:p>
        </p:txBody>
      </p:sp>
      <p:sp>
        <p:nvSpPr>
          <p:cNvPr id="20" name="Text 14"/>
          <p:cNvSpPr/>
          <p:nvPr/>
        </p:nvSpPr>
        <p:spPr>
          <a:xfrm>
            <a:off x="8330992" y="3945676"/>
            <a:ext cx="3606710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8E4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Business analytics, finance, marketing, human resources, and product management.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0" y="165100"/>
            <a:ext cx="8889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E4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3791"/>
            <a:ext cx="11582110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spc="132" kern="100" dirty="0">
                <a:solidFill>
                  <a:srgbClr val="4F8C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THE TOOLKIT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43987"/>
            <a:ext cx="10972526" cy="5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200" spc="-63" kern="100" dirty="0">
                <a:solidFill>
                  <a:srgbClr val="F5F8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Intelligent Features That Make a Difference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09585" y="1600938"/>
            <a:ext cx="11582110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8E4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module turns a student question into a practical next step.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585" y="2059384"/>
            <a:ext cx="3505112" cy="1794570"/>
          </a:xfrm>
          <a:prstGeom prst="roundRect">
            <a:avLst>
              <a:gd name="adj" fmla="val 4756"/>
            </a:avLst>
          </a:prstGeom>
          <a:noFill/>
          <a:ln w="25399">
            <a:solidFill>
              <a:srgbClr val="19459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582" y="2186384"/>
            <a:ext cx="507987" cy="508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6582" y="2835196"/>
            <a:ext cx="3251119" cy="205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1700" spc="-25" kern="100" dirty="0">
                <a:solidFill>
                  <a:srgbClr val="F5F8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AI Career Chatbot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36582" y="3172266"/>
            <a:ext cx="3251119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8E4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Natural-language answers to career questions.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419489" y="2059384"/>
            <a:ext cx="3352716" cy="1794570"/>
          </a:xfrm>
          <a:prstGeom prst="roundRect">
            <a:avLst>
              <a:gd name="adj" fmla="val 4756"/>
            </a:avLst>
          </a:prstGeom>
          <a:noFill/>
          <a:ln w="25399">
            <a:solidFill>
              <a:srgbClr val="194599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6486" y="2186384"/>
            <a:ext cx="507987" cy="508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46486" y="2835196"/>
            <a:ext cx="3098722" cy="205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1700" spc="-25" kern="100" dirty="0">
                <a:solidFill>
                  <a:srgbClr val="F5F8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Smart Career Matcher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546486" y="3172266"/>
            <a:ext cx="3098722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8E4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Transparent matching logic based on the student profile.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076998" y="2059384"/>
            <a:ext cx="3505112" cy="1794570"/>
          </a:xfrm>
          <a:prstGeom prst="roundRect">
            <a:avLst>
              <a:gd name="adj" fmla="val 4756"/>
            </a:avLst>
          </a:prstGeom>
          <a:noFill/>
          <a:ln w="25399">
            <a:solidFill>
              <a:srgbClr val="194599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3995" y="2186384"/>
            <a:ext cx="507987" cy="5080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03995" y="2835196"/>
            <a:ext cx="3251119" cy="205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1700" spc="-25" kern="100" dirty="0">
                <a:solidFill>
                  <a:srgbClr val="F5F8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Skill Gap Analyzer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8203995" y="3172266"/>
            <a:ext cx="3251119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8E4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Compares current skills with a selected career’s requirements.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09585" y="4158754"/>
            <a:ext cx="3505112" cy="1794570"/>
          </a:xfrm>
          <a:prstGeom prst="roundRect">
            <a:avLst>
              <a:gd name="adj" fmla="val 4756"/>
            </a:avLst>
          </a:prstGeom>
          <a:noFill/>
          <a:ln w="25399">
            <a:solidFill>
              <a:srgbClr val="194599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582" y="4285754"/>
            <a:ext cx="507987" cy="5080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36582" y="4934565"/>
            <a:ext cx="3251119" cy="205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1700" spc="-25" kern="100" dirty="0">
                <a:solidFill>
                  <a:srgbClr val="F5F8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Personalized Roadmap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736582" y="5271635"/>
            <a:ext cx="3251119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8E4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Turns missing skills into stages, milestones, and projects.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4419489" y="4158754"/>
            <a:ext cx="3352716" cy="1794570"/>
          </a:xfrm>
          <a:prstGeom prst="roundRect">
            <a:avLst>
              <a:gd name="adj" fmla="val 4756"/>
            </a:avLst>
          </a:prstGeom>
          <a:noFill/>
          <a:ln w="25399">
            <a:solidFill>
              <a:srgbClr val="194599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6486" y="4285754"/>
            <a:ext cx="507987" cy="5080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46486" y="4934565"/>
            <a:ext cx="3098722" cy="205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1700" spc="-25" kern="100" dirty="0">
                <a:solidFill>
                  <a:srgbClr val="F5F8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Career Explorer</a:t>
            </a:r>
            <a:endParaRPr lang="en-US" sz="1700" dirty="0"/>
          </a:p>
        </p:txBody>
      </p:sp>
      <p:sp>
        <p:nvSpPr>
          <p:cNvPr id="24" name="Text 17"/>
          <p:cNvSpPr/>
          <p:nvPr/>
        </p:nvSpPr>
        <p:spPr>
          <a:xfrm>
            <a:off x="4546486" y="5271635"/>
            <a:ext cx="3098722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8E4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Shows roles, qualifications, and required skills.</a:t>
            </a:r>
            <a:endParaRPr lang="en-US" sz="1600" dirty="0"/>
          </a:p>
        </p:txBody>
      </p:sp>
      <p:sp>
        <p:nvSpPr>
          <p:cNvPr id="25" name="Shape 18"/>
          <p:cNvSpPr/>
          <p:nvPr/>
        </p:nvSpPr>
        <p:spPr>
          <a:xfrm>
            <a:off x="8076998" y="4158754"/>
            <a:ext cx="3505112" cy="1794570"/>
          </a:xfrm>
          <a:prstGeom prst="roundRect">
            <a:avLst>
              <a:gd name="adj" fmla="val 4756"/>
            </a:avLst>
          </a:prstGeom>
          <a:noFill/>
          <a:ln w="25399">
            <a:solidFill>
              <a:srgbClr val="194599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3995" y="4285754"/>
            <a:ext cx="507987" cy="5080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203995" y="4934565"/>
            <a:ext cx="3251119" cy="205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1700" spc="-25" kern="100" dirty="0">
                <a:solidFill>
                  <a:srgbClr val="F5F8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Resume and Project Advisor</a:t>
            </a:r>
            <a:endParaRPr lang="en-US" sz="1700" dirty="0"/>
          </a:p>
        </p:txBody>
      </p:sp>
      <p:sp>
        <p:nvSpPr>
          <p:cNvPr id="28" name="Text 20"/>
          <p:cNvSpPr/>
          <p:nvPr/>
        </p:nvSpPr>
        <p:spPr>
          <a:xfrm>
            <a:off x="8203995" y="5271635"/>
            <a:ext cx="3251119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8E4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Supports portfolio and internship preparation.</a:t>
            </a:r>
            <a:endParaRPr lang="en-US" sz="1600" dirty="0"/>
          </a:p>
        </p:txBody>
      </p:sp>
      <p:sp>
        <p:nvSpPr>
          <p:cNvPr id="29" name="Text 21"/>
          <p:cNvSpPr/>
          <p:nvPr/>
        </p:nvSpPr>
        <p:spPr>
          <a:xfrm>
            <a:off x="0" y="165100"/>
            <a:ext cx="8889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E4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3791"/>
            <a:ext cx="4267093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spc="132" kern="100" dirty="0">
                <a:solidFill>
                  <a:srgbClr val="9FB1C9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TECHNOLOGY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43987"/>
            <a:ext cx="4038499" cy="1520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200" spc="-63" kern="100" dirty="0">
                <a:solidFill>
                  <a:srgbClr val="F5F8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How AI Career Navigator </a:t>
            </a:r>
            <a:pPr algn="l" indent="0" marL="0">
              <a:lnSpc>
                <a:spcPct val="79000"/>
              </a:lnSpc>
              <a:buNone/>
            </a:pPr>
            <a:r>
              <a:rPr lang="en-US" sz="4200" spc="-63" kern="100" dirty="0">
                <a:solidFill>
                  <a:srgbClr val="4F8C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Works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09585" y="2614358"/>
            <a:ext cx="4038499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8E4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layered AI system connects student data, application logic, and personalized output.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263" y="609600"/>
            <a:ext cx="6095848" cy="3429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35725"/>
            <a:ext cx="12191695" cy="422275"/>
          </a:xfrm>
          <a:prstGeom prst="rect">
            <a:avLst/>
          </a:prstGeom>
          <a:solidFill>
            <a:srgbClr val="10233D"/>
          </a:solidFill>
          <a:ln/>
        </p:spPr>
      </p:sp>
      <p:sp>
        <p:nvSpPr>
          <p:cNvPr id="7" name="Text 4"/>
          <p:cNvSpPr/>
          <p:nvPr/>
        </p:nvSpPr>
        <p:spPr>
          <a:xfrm>
            <a:off x="228594" y="6539706"/>
            <a:ext cx="11963101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Stack: React, TypeScript, Tailwind CSS · Python, FastAPI, Pydantic · SQLAlchemy · SQLite prototype with PostgreSQL as a future option · Git and GitHub.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0" y="165100"/>
            <a:ext cx="8889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E4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211455"/>
            <a:ext cx="11378915" cy="5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200" spc="-63" kern="100" dirty="0">
                <a:solidFill>
                  <a:srgbClr val="F5F8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The Intelligence Behind the System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06390" y="868406"/>
            <a:ext cx="11785305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8E4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Application logic handles matching and gap calculations; Claude assists with natural-language understanding when required.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06390" y="1347014"/>
            <a:ext cx="5613260" cy="205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1700" spc="-25" kern="100" dirty="0">
                <a:solidFill>
                  <a:srgbClr val="F5F8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Rule-based career matching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06390" y="1684083"/>
            <a:ext cx="5613260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8E4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Qualification, interest, skill, and eligibility matching with explainable recommendations.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172046" y="1347014"/>
            <a:ext cx="5613260" cy="205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1700" spc="-25" kern="100" dirty="0">
                <a:solidFill>
                  <a:srgbClr val="F5F8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Skill-gap analysis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172046" y="1684083"/>
            <a:ext cx="5613260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8E4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Compares current and required skills, then prioritizes learning tasks.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06390" y="2411333"/>
            <a:ext cx="5613260" cy="205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1700" spc="-25" kern="100" dirty="0">
                <a:solidFill>
                  <a:srgbClr val="F5F8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Claude API integration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06390" y="2748403"/>
            <a:ext cx="5613260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8E4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Understands natural-language questions and assists with explanations and learning plans.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72046" y="2411333"/>
            <a:ext cx="5613260" cy="205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1700" spc="-25" kern="100" dirty="0">
                <a:solidFill>
                  <a:srgbClr val="F5F8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Structured career knowledge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172046" y="2748403"/>
            <a:ext cx="5613260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8E4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Stores career descriptions, qualifications, skills, and resources for consistent retrieval.</a:t>
            </a:r>
            <a:endParaRPr lang="en-US" sz="16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390" y="3487241"/>
            <a:ext cx="507987" cy="508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06390" y="4199553"/>
            <a:ext cx="2153886" cy="205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1700" spc="-25" kern="100" dirty="0">
                <a:solidFill>
                  <a:srgbClr val="F5F8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Student profile</a:t>
            </a:r>
            <a:endParaRPr lang="en-US" sz="17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2573" y="3487241"/>
            <a:ext cx="507987" cy="5080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712573" y="4199553"/>
            <a:ext cx="2153985" cy="205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1700" spc="-25" kern="100" dirty="0">
                <a:solidFill>
                  <a:srgbClr val="F5F8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Career matching</a:t>
            </a:r>
            <a:endParaRPr lang="en-US" sz="17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8855" y="3487241"/>
            <a:ext cx="507987" cy="5080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18855" y="4199553"/>
            <a:ext cx="2153886" cy="410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1700" spc="-25" kern="100" dirty="0">
                <a:solidFill>
                  <a:srgbClr val="F5F8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Skill-gap identification</a:t>
            </a:r>
            <a:endParaRPr lang="en-US" sz="17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5038" y="3487241"/>
            <a:ext cx="507987" cy="5080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325038" y="4199553"/>
            <a:ext cx="2153985" cy="205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1700" spc="-25" kern="100" dirty="0">
                <a:solidFill>
                  <a:srgbClr val="F5F8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AI-assisted roadmap</a:t>
            </a:r>
            <a:endParaRPr lang="en-US" sz="17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1320" y="3487241"/>
            <a:ext cx="507987" cy="5080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631320" y="4199553"/>
            <a:ext cx="2153886" cy="410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1700" spc="-25" kern="100" dirty="0">
                <a:solidFill>
                  <a:srgbClr val="F5F8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Actionable recommendations</a:t>
            </a:r>
            <a:endParaRPr lang="en-US" sz="1700" dirty="0"/>
          </a:p>
        </p:txBody>
      </p:sp>
      <p:sp>
        <p:nvSpPr>
          <p:cNvPr id="22" name="Text 15"/>
          <p:cNvSpPr/>
          <p:nvPr/>
        </p:nvSpPr>
        <p:spPr>
          <a:xfrm>
            <a:off x="406390" y="4779808"/>
            <a:ext cx="11378915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8E4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initial version uses an existing AI model through an API plus a custom recommendation engine; it does not train a large language model from scratch.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0" y="165100"/>
            <a:ext cx="8889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E4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696"/>
            <a:ext cx="6822309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8E4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WORKFLOW · NOT A REAL TEST RESULT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09585" y="1298297"/>
            <a:ext cx="6212724" cy="1013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200" spc="-63" kern="100" dirty="0">
                <a:solidFill>
                  <a:srgbClr val="F5F8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From Student Profile to</a:t>
            </a:r>
            <a:endParaRPr lang="en-US" sz="4200" dirty="0"/>
          </a:p>
          <a:p>
            <a:pPr algn="l" indent="0" marL="0">
              <a:lnSpc>
                <a:spcPct val="79000"/>
              </a:lnSpc>
              <a:buNone/>
            </a:pPr>
            <a:r>
              <a:rPr lang="en-US" sz="4200" spc="-63" kern="100" dirty="0">
                <a:solidFill>
                  <a:srgbClr val="4F8C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Career Roadmap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09585" y="2455863"/>
            <a:ext cx="6212724" cy="305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D8E4F5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Create profile:</a:t>
            </a:r>
            <a:pPr algn="l" marL="325120" indent="-32512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D8E4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B.Tech in AI/ML, second year, basic Python and introductory programming, 8 hours per week.</a:t>
            </a:r>
            <a:endParaRPr lang="en-US" sz="1600" dirty="0"/>
          </a:p>
          <a:p>
            <a:pPr algn="l" marL="325120" indent="-325120">
              <a:lnSpc>
                <a:spcPct val="115000"/>
              </a:lnSpc>
              <a:buSzPct val="100000"/>
              <a:buFont typeface="+mj-lt"/>
              <a:buAutoNum type="arabicPeriod" startAt="2"/>
            </a:pPr>
            <a:r>
              <a:rPr lang="en-US" sz="1600" b="1" dirty="0">
                <a:solidFill>
                  <a:srgbClr val="D8E4F5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Select target:</a:t>
            </a:r>
            <a:pPr algn="l" marL="325120" indent="-325120">
              <a:lnSpc>
                <a:spcPct val="115000"/>
              </a:lnSpc>
              <a:buSzPct val="100000"/>
              <a:buFont typeface="+mj-lt"/>
              <a:buAutoNum type="arabicPeriod" startAt="2"/>
            </a:pPr>
            <a:r>
              <a:rPr lang="en-US" sz="1600" dirty="0">
                <a:solidFill>
                  <a:srgbClr val="D8E4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Machine Learning Engineer.</a:t>
            </a:r>
            <a:endParaRPr lang="en-US" sz="1600" dirty="0"/>
          </a:p>
          <a:p>
            <a:pPr algn="l" marL="325120" indent="-325120">
              <a:lnSpc>
                <a:spcPct val="115000"/>
              </a:lnSpc>
              <a:buSzPct val="100000"/>
              <a:buFont typeface="+mj-lt"/>
              <a:buAutoNum type="arabicPeriod" startAt="3"/>
            </a:pPr>
            <a:r>
              <a:rPr lang="en-US" sz="1600" b="1" dirty="0">
                <a:solidFill>
                  <a:srgbClr val="D8E4F5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Compare skills:</a:t>
            </a:r>
            <a:pPr algn="l" marL="325120" indent="-325120">
              <a:lnSpc>
                <a:spcPct val="115000"/>
              </a:lnSpc>
              <a:buSzPct val="100000"/>
              <a:buFont typeface="+mj-lt"/>
              <a:buAutoNum type="arabicPeriod" startAt="3"/>
            </a:pPr>
            <a:r>
              <a:rPr lang="en-US" sz="1600" dirty="0">
                <a:solidFill>
                  <a:srgbClr val="D8E4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current skills against role requirements.</a:t>
            </a:r>
            <a:endParaRPr lang="en-US" sz="1600" dirty="0"/>
          </a:p>
          <a:p>
            <a:pPr algn="l" marL="325120" indent="-325120">
              <a:lnSpc>
                <a:spcPct val="115000"/>
              </a:lnSpc>
              <a:buSzPct val="100000"/>
              <a:buFont typeface="+mj-lt"/>
              <a:buAutoNum type="arabicPeriod" startAt="4"/>
            </a:pPr>
            <a:r>
              <a:rPr lang="en-US" sz="1600" b="1" dirty="0">
                <a:solidFill>
                  <a:srgbClr val="D8E4F5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Identify priorities:</a:t>
            </a:r>
            <a:pPr algn="l" marL="325120" indent="-325120">
              <a:lnSpc>
                <a:spcPct val="115000"/>
              </a:lnSpc>
              <a:buSzPct val="100000"/>
              <a:buFont typeface="+mj-lt"/>
              <a:buAutoNum type="arabicPeriod" startAt="4"/>
            </a:pPr>
            <a:r>
              <a:rPr lang="en-US" sz="1600" dirty="0">
                <a:solidFill>
                  <a:srgbClr val="D8E4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mathematics, Python, data handling, machine learning fundamentals, and model evaluation.</a:t>
            </a:r>
            <a:endParaRPr lang="en-US" sz="1600" dirty="0"/>
          </a:p>
          <a:p>
            <a:pPr algn="l" marL="325120" indent="-325120">
              <a:lnSpc>
                <a:spcPct val="115000"/>
              </a:lnSpc>
              <a:buSzPct val="100000"/>
              <a:buFont typeface="+mj-lt"/>
              <a:buAutoNum type="arabicPeriod" startAt="5"/>
            </a:pPr>
            <a:r>
              <a:rPr lang="en-US" sz="1600" b="1" dirty="0">
                <a:solidFill>
                  <a:srgbClr val="D8E4F5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Receive resources and projects:</a:t>
            </a:r>
            <a:pPr algn="l" marL="325120" indent="-325120">
              <a:lnSpc>
                <a:spcPct val="115000"/>
              </a:lnSpc>
              <a:buSzPct val="100000"/>
              <a:buFont typeface="+mj-lt"/>
              <a:buAutoNum type="arabicPeriod" startAt="5"/>
            </a:pPr>
            <a:r>
              <a:rPr lang="en-US" sz="1600" dirty="0">
                <a:solidFill>
                  <a:srgbClr val="D8E4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learning resources and projects.</a:t>
            </a:r>
            <a:endParaRPr lang="en-US" sz="1600" dirty="0"/>
          </a:p>
          <a:p>
            <a:pPr algn="l" marL="325120" indent="-325120">
              <a:lnSpc>
                <a:spcPct val="115000"/>
              </a:lnSpc>
              <a:buSzPct val="100000"/>
              <a:buFont typeface="+mj-lt"/>
              <a:buAutoNum type="arabicPeriod" startAt="6"/>
            </a:pPr>
            <a:r>
              <a:rPr lang="en-US" sz="1600" b="1" dirty="0">
                <a:solidFill>
                  <a:srgbClr val="D8E4F5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Track staged roadmap:</a:t>
            </a:r>
            <a:pPr algn="l" marL="325120" indent="-325120">
              <a:lnSpc>
                <a:spcPct val="115000"/>
              </a:lnSpc>
              <a:buSzPct val="100000"/>
              <a:buFont typeface="+mj-lt"/>
              <a:buAutoNum type="arabicPeriod" startAt="6"/>
            </a:pPr>
            <a:r>
              <a:rPr lang="en-US" sz="1600" dirty="0">
                <a:solidFill>
                  <a:srgbClr val="D8E4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follow staged progress toward the target.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585" y="5704030"/>
            <a:ext cx="6212724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8E4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Example projects: student performance prediction · house price prediction · customer segmentation · model deployment.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8983" y="0"/>
            <a:ext cx="4302712" cy="68683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0" y="165100"/>
            <a:ext cx="8889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E4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68655"/>
            <a:ext cx="10972526" cy="1013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200" spc="-63" kern="100" dirty="0">
                <a:solidFill>
                  <a:srgbClr val="F5F8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Building a Reliable and Useful Career Guidance Platform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609585" y="1826220"/>
            <a:ext cx="5333867" cy="3306366"/>
          </a:xfrm>
          <a:prstGeom prst="roundRect">
            <a:avLst>
              <a:gd name="adj" fmla="val 2581"/>
            </a:avLst>
          </a:prstGeom>
          <a:solidFill>
            <a:srgbClr val="041F50"/>
          </a:solidFill>
          <a:ln/>
        </p:spPr>
      </p:sp>
      <p:sp>
        <p:nvSpPr>
          <p:cNvPr id="4" name="Text 2"/>
          <p:cNvSpPr/>
          <p:nvPr/>
        </p:nvSpPr>
        <p:spPr>
          <a:xfrm>
            <a:off x="838179" y="2074982"/>
            <a:ext cx="4876678" cy="205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1700" spc="-25" kern="100" dirty="0">
                <a:solidFill>
                  <a:srgbClr val="F5F8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Implementation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38179" y="2412051"/>
            <a:ext cx="4876678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8E4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Requirements and architecture → backend and database → matching and skill-gap logic → Claude integration → frontend dashboard → integration and testing → deployment and documentation.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8179" y="3731836"/>
            <a:ext cx="4876678" cy="205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1700" spc="-25" kern="100" dirty="0">
                <a:solidFill>
                  <a:srgbClr val="F5F8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Expected outcomes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38179" y="4068905"/>
            <a:ext cx="4876678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8E4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Easier access to career information, more personalized learning plans, clearer job-skill requirements, and organized career preparation.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48244" y="1826220"/>
            <a:ext cx="5333867" cy="3306366"/>
          </a:xfrm>
          <a:prstGeom prst="roundRect">
            <a:avLst>
              <a:gd name="adj" fmla="val 2581"/>
            </a:avLst>
          </a:prstGeom>
          <a:solidFill>
            <a:srgbClr val="041F50"/>
          </a:solidFill>
          <a:ln/>
        </p:spPr>
      </p:sp>
      <p:sp>
        <p:nvSpPr>
          <p:cNvPr id="9" name="Text 7"/>
          <p:cNvSpPr/>
          <p:nvPr/>
        </p:nvSpPr>
        <p:spPr>
          <a:xfrm>
            <a:off x="6476838" y="2074982"/>
            <a:ext cx="4876678" cy="205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1700" spc="-25" kern="100" dirty="0">
                <a:solidFill>
                  <a:srgbClr val="F5F8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Testing checklist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76838" y="2412051"/>
            <a:ext cx="4876678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8E4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Validate inputs, matching rules, gap calculations, chatbot failures, database persistence, responsive layouts, relevance, and explainability.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76838" y="3451443"/>
            <a:ext cx="4876678" cy="205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1700" spc="-25" kern="100" dirty="0">
                <a:solidFill>
                  <a:srgbClr val="F5F8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76838" y="3788513"/>
            <a:ext cx="4876678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8E4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responses may be inaccurate; job-market information needs current sources; results depend on data quality and user inputs; API usage may incur costs.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9585" y="5322832"/>
            <a:ext cx="11582110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8E4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measurable improvement is claimed without evaluation.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0" y="165100"/>
            <a:ext cx="8889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E4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622522"/>
            <a:ext cx="5806334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spc="132" kern="100" dirty="0">
                <a:solidFill>
                  <a:srgbClr val="4F8C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THE NEXT DECISION IS YOURS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3387" y="967641"/>
            <a:ext cx="5374545" cy="3377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5600" spc="-84" kern="100" dirty="0">
                <a:solidFill>
                  <a:srgbClr val="F5F8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Empowering Students to Make Informed Career Decisions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33387" y="4474766"/>
            <a:ext cx="5374545" cy="1866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Career Navigator combines career-matching logic, skill-gap analysis, structured learning roadmaps, and AI-powered conversation to make career exploration more personalized, accessible, and actionable.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Your Education. Your Skills. Your Future. One Intelligent Career Navigator.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44414" y="0"/>
            <a:ext cx="5547281" cy="6858000"/>
          </a:xfrm>
          <a:prstGeom prst="rect">
            <a:avLst/>
          </a:prstGeom>
          <a:solidFill>
            <a:srgbClr val="10233D"/>
          </a:solidFill>
          <a:ln/>
        </p:spPr>
      </p:sp>
      <p:sp>
        <p:nvSpPr>
          <p:cNvPr id="6" name="Text 4"/>
          <p:cNvSpPr/>
          <p:nvPr/>
        </p:nvSpPr>
        <p:spPr>
          <a:xfrm>
            <a:off x="7076203" y="2043767"/>
            <a:ext cx="4683702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2100" spc="-31" kern="100" dirty="0">
                <a:solidFill>
                  <a:srgbClr val="D8E4F5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Future scope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076203" y="2413595"/>
            <a:ext cx="4683702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E4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Verified live jobs and internships · resume analysis · semantic search and Retrieval-Augmented Generation · regional and international pathways · trusted learning-platform integrations · multilingual guidance · progress-based recommendations · evaluated user feedback.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076203" y="3914894"/>
            <a:ext cx="4683702" cy="5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200" spc="-63" kern="100" dirty="0">
                <a:solidFill>
                  <a:srgbClr val="D8E4F5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7076203" y="4571845"/>
            <a:ext cx="5115492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8E4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Questions &amp; Answers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2026-10-21T07:46:01Z</dcterms:created>
  <dcterms:modified xsi:type="dcterms:W3CDTF">2026-10-21T07:46:01Z</dcterms:modified>
</cp:coreProperties>
</file>